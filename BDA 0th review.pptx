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7" name="Google Shape;87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5" name="Google Shape;105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6" name="Google Shape;106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2" name="Google Shape;112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3" name="Google Shape;113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5" name="Google Shape;115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6" name="Google Shape;126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7" name="Google Shape;127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0" name="Google Shape;140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6" name="Google Shape;76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23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 txBox="1"/>
          <p:nvPr/>
        </p:nvSpPr>
        <p:spPr>
          <a:xfrm>
            <a:off x="914400" y="1417320"/>
            <a:ext cx="103326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Manufacturing – Predictive Maintenance</a:t>
            </a:r>
            <a:b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Scheduling Using Machine Sensor Streams</a:t>
            </a:r>
            <a:endParaRPr/>
          </a:p>
        </p:txBody>
      </p:sp>
      <p:sp>
        <p:nvSpPr>
          <p:cNvPr id="155" name="Google Shape;155;p13"/>
          <p:cNvSpPr txBox="1"/>
          <p:nvPr/>
        </p:nvSpPr>
        <p:spPr>
          <a:xfrm>
            <a:off x="1097280" y="3154680"/>
            <a:ext cx="9966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BED7EB"/>
                </a:solidFill>
                <a:latin typeface="Calibri"/>
                <a:ea typeface="Calibri"/>
                <a:cs typeface="Calibri"/>
                <a:sym typeface="Calibri"/>
              </a:rPr>
              <a:t>Big Data Architecture Project</a:t>
            </a:r>
            <a:endParaRPr/>
          </a:p>
        </p:txBody>
      </p:sp>
      <p:sp>
        <p:nvSpPr>
          <p:cNvPr id="156" name="Google Shape;156;p13"/>
          <p:cNvSpPr txBox="1"/>
          <p:nvPr/>
        </p:nvSpPr>
        <p:spPr>
          <a:xfrm>
            <a:off x="1097280" y="5074920"/>
            <a:ext cx="9966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Ingestion • Distributed Storage • Processing • Failure Prediction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/>
        </p:nvSpPr>
        <p:spPr>
          <a:xfrm>
            <a:off x="594360" y="3200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/>
          </a:p>
        </p:txBody>
      </p:sp>
      <p:sp>
        <p:nvSpPr>
          <p:cNvPr id="162" name="Google Shape;162;p14"/>
          <p:cNvSpPr txBox="1"/>
          <p:nvPr/>
        </p:nvSpPr>
        <p:spPr>
          <a:xfrm>
            <a:off x="822960" y="1417320"/>
            <a:ext cx="10515600" cy="44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• Manufacturing machines continuously generate large volumes of sensor data, including temperature, vibration, pressure and rotational speed.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• The proposed Big Data system collects continuous sensor streams, stores historical data and processes it at scale.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• Spark MLlib is used to apply machine-learning models for potential machine-failure prediction.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• Prediction results are queried and reported through Apache Hive to support maintenance decisions before a breakdown occurs.</a:t>
            </a: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594360" y="6510528"/>
            <a:ext cx="10972800" cy="18300"/>
          </a:xfrm>
          <a:prstGeom prst="rect">
            <a:avLst/>
          </a:prstGeom>
          <a:solidFill>
            <a:srgbClr val="D2DC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0789920" y="6565392"/>
            <a:ext cx="731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8828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594360" y="3200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822960" y="1325880"/>
            <a:ext cx="105156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• Manufacturing machines continuously generate sensor data such as temperature, vibration, pressure and rotational speed.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• Manual monitoring makes it difficult to identify abnormal conditions and predict failures in advance.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• Unexpected failures can cause production downtime, increased maintenance costs and delays.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• Need: a Big Data system that collects, stores and processes continuous sensor streams, predicts potential failures and supports maintenance scheduling.</a:t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594360" y="6510528"/>
            <a:ext cx="10972800" cy="18300"/>
          </a:xfrm>
          <a:prstGeom prst="rect">
            <a:avLst/>
          </a:prstGeom>
          <a:solidFill>
            <a:srgbClr val="D2DC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10789920" y="6565392"/>
            <a:ext cx="731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8828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594360" y="3200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Hadoop Ecosystem &amp; Technologies Used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621792" y="932688"/>
            <a:ext cx="10789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369AA"/>
                </a:solidFill>
                <a:latin typeface="Calibri"/>
                <a:ea typeface="Calibri"/>
                <a:cs typeface="Calibri"/>
                <a:sym typeface="Calibri"/>
              </a:rPr>
              <a:t>Each technology addresses a specific stage of the data pipeline.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640080" y="1371600"/>
            <a:ext cx="3063300" cy="20574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640080" y="1371600"/>
            <a:ext cx="73200" cy="2057400"/>
          </a:xfrm>
          <a:prstGeom prst="rect">
            <a:avLst/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868680" y="1536192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Apache Kafka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868680" y="2029967"/>
            <a:ext cx="2651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Real-time sensor data ingestion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Handles continuous, high-volume streams.</a:t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4160520" y="1371600"/>
            <a:ext cx="3063300" cy="20574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4160520" y="1371600"/>
            <a:ext cx="73200" cy="2057400"/>
          </a:xfrm>
          <a:prstGeom prst="rect">
            <a:avLst/>
          </a:prstGeom>
          <a:solidFill>
            <a:srgbClr val="3A915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6"/>
          <p:cNvSpPr txBox="1"/>
          <p:nvPr/>
        </p:nvSpPr>
        <p:spPr>
          <a:xfrm>
            <a:off x="4389120" y="1536192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HDFS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4389120" y="2029967"/>
            <a:ext cx="2651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Distributed storage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Stores large volumes of historical sensor data.</a:t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7680960" y="1371600"/>
            <a:ext cx="3063300" cy="20574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7680960" y="1371600"/>
            <a:ext cx="73200" cy="2057400"/>
          </a:xfrm>
          <a:prstGeom prst="rect">
            <a:avLst/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 txBox="1"/>
          <p:nvPr/>
        </p:nvSpPr>
        <p:spPr>
          <a:xfrm>
            <a:off x="7909560" y="1536192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Apache Spark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7909560" y="2029967"/>
            <a:ext cx="2651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Large-scale data processing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Cleaning, transformation and feature creation.</a:t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2377440" y="3886200"/>
            <a:ext cx="3063300" cy="20574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2377440" y="3886200"/>
            <a:ext cx="73200" cy="2057400"/>
          </a:xfrm>
          <a:prstGeom prst="rect">
            <a:avLst/>
          </a:prstGeom>
          <a:solidFill>
            <a:srgbClr val="DAA02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2606040" y="4050791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Spark MLlib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2606040" y="4544568"/>
            <a:ext cx="2651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Predicts potential machine failures.</a:t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>
            <a:off x="5897880" y="3886200"/>
            <a:ext cx="3063300" cy="20574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5897880" y="3886200"/>
            <a:ext cx="73200" cy="2057400"/>
          </a:xfrm>
          <a:prstGeom prst="rect">
            <a:avLst/>
          </a:prstGeom>
          <a:solidFill>
            <a:srgbClr val="BE414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 txBox="1"/>
          <p:nvPr/>
        </p:nvSpPr>
        <p:spPr>
          <a:xfrm>
            <a:off x="6126480" y="4050791"/>
            <a:ext cx="265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Apache Hive</a:t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6126480" y="4544568"/>
            <a:ext cx="26517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Querying &amp; reporting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Helps maintenance teams analyze results.</a:t>
            </a:r>
            <a:endParaRPr/>
          </a:p>
        </p:txBody>
      </p:sp>
      <p:sp>
        <p:nvSpPr>
          <p:cNvPr id="201" name="Google Shape;201;p16"/>
          <p:cNvSpPr/>
          <p:nvPr/>
        </p:nvSpPr>
        <p:spPr>
          <a:xfrm>
            <a:off x="594360" y="6510528"/>
            <a:ext cx="10972800" cy="18300"/>
          </a:xfrm>
          <a:prstGeom prst="rect">
            <a:avLst/>
          </a:prstGeom>
          <a:solidFill>
            <a:srgbClr val="D2DC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10789920" y="6565392"/>
            <a:ext cx="731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8828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594360" y="3200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01 | Apache Kafka — Data Ingestion</a:t>
            </a:r>
            <a:endParaRPr/>
          </a:p>
        </p:txBody>
      </p:sp>
      <p:sp>
        <p:nvSpPr>
          <p:cNvPr id="209" name="Google Shape;209;p17"/>
          <p:cNvSpPr/>
          <p:nvPr/>
        </p:nvSpPr>
        <p:spPr>
          <a:xfrm>
            <a:off x="640080" y="1371600"/>
            <a:ext cx="4846200" cy="42063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640080" y="1371600"/>
            <a:ext cx="73200" cy="4206300"/>
          </a:xfrm>
          <a:prstGeom prst="rect">
            <a:avLst/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868680" y="1536192"/>
            <a:ext cx="4434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Continuous Sensor Data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868680" y="2029967"/>
            <a:ext cx="44349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Vibration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Pressure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RPM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Timestamp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Machine ID</a:t>
            </a:r>
            <a:endParaRPr/>
          </a:p>
        </p:txBody>
      </p:sp>
      <p:sp>
        <p:nvSpPr>
          <p:cNvPr id="213" name="Google Shape;213;p17"/>
          <p:cNvSpPr/>
          <p:nvPr/>
        </p:nvSpPr>
        <p:spPr>
          <a:xfrm>
            <a:off x="6400800" y="1371600"/>
            <a:ext cx="4846200" cy="42063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7"/>
          <p:cNvSpPr/>
          <p:nvPr/>
        </p:nvSpPr>
        <p:spPr>
          <a:xfrm>
            <a:off x="6400800" y="1371600"/>
            <a:ext cx="73200" cy="4206300"/>
          </a:xfrm>
          <a:prstGeom prst="rect">
            <a:avLst/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7"/>
          <p:cNvSpPr txBox="1"/>
          <p:nvPr/>
        </p:nvSpPr>
        <p:spPr>
          <a:xfrm>
            <a:off x="6629400" y="1536192"/>
            <a:ext cx="4434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Kafka's Role</a:t>
            </a:r>
            <a:endParaRPr/>
          </a:p>
        </p:txBody>
      </p:sp>
      <p:sp>
        <p:nvSpPr>
          <p:cNvPr id="216" name="Google Shape;216;p17"/>
          <p:cNvSpPr txBox="1"/>
          <p:nvPr/>
        </p:nvSpPr>
        <p:spPr>
          <a:xfrm>
            <a:off x="6629400" y="2029967"/>
            <a:ext cx="4434900" cy="33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Receives continuous streams from manufacturing sensors and provides high-speed, reliable data ingestion for the pipeline.</a:t>
            </a:r>
            <a:endParaRPr/>
          </a:p>
        </p:txBody>
      </p:sp>
      <p:sp>
        <p:nvSpPr>
          <p:cNvPr id="217" name="Google Shape;217;p17"/>
          <p:cNvSpPr/>
          <p:nvPr/>
        </p:nvSpPr>
        <p:spPr>
          <a:xfrm>
            <a:off x="5623560" y="2880360"/>
            <a:ext cx="777300" cy="731400"/>
          </a:xfrm>
          <a:prstGeom prst="chevron">
            <a:avLst>
              <a:gd fmla="val 50000" name="adj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594360" y="6510528"/>
            <a:ext cx="10972800" cy="18300"/>
          </a:xfrm>
          <a:prstGeom prst="rect">
            <a:avLst/>
          </a:prstGeom>
          <a:solidFill>
            <a:srgbClr val="D2DC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 txBox="1"/>
          <p:nvPr/>
        </p:nvSpPr>
        <p:spPr>
          <a:xfrm>
            <a:off x="10789920" y="6565392"/>
            <a:ext cx="731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8828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594360" y="3200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02 | HDFS — Distributed Storage</a:t>
            </a:r>
            <a:endParaRPr/>
          </a:p>
        </p:txBody>
      </p:sp>
      <p:sp>
        <p:nvSpPr>
          <p:cNvPr id="226" name="Google Shape;226;p18"/>
          <p:cNvSpPr/>
          <p:nvPr/>
        </p:nvSpPr>
        <p:spPr>
          <a:xfrm>
            <a:off x="914400" y="1508760"/>
            <a:ext cx="2743200" cy="18288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8"/>
          <p:cNvSpPr/>
          <p:nvPr/>
        </p:nvSpPr>
        <p:spPr>
          <a:xfrm>
            <a:off x="914400" y="1508760"/>
            <a:ext cx="73200" cy="1828800"/>
          </a:xfrm>
          <a:prstGeom prst="rect">
            <a:avLst/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1143000" y="1673351"/>
            <a:ext cx="233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Kafka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1143000" y="2167128"/>
            <a:ext cx="2331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Incoming sensor stream</a:t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4709160" y="1508760"/>
            <a:ext cx="2743200" cy="18288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8"/>
          <p:cNvSpPr/>
          <p:nvPr/>
        </p:nvSpPr>
        <p:spPr>
          <a:xfrm>
            <a:off x="4709160" y="1508760"/>
            <a:ext cx="73200" cy="1828800"/>
          </a:xfrm>
          <a:prstGeom prst="rect">
            <a:avLst/>
          </a:prstGeom>
          <a:solidFill>
            <a:srgbClr val="3A915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8"/>
          <p:cNvSpPr txBox="1"/>
          <p:nvPr/>
        </p:nvSpPr>
        <p:spPr>
          <a:xfrm>
            <a:off x="4937760" y="1673351"/>
            <a:ext cx="233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HDFS</a:t>
            </a:r>
            <a:endParaRPr/>
          </a:p>
        </p:txBody>
      </p:sp>
      <p:sp>
        <p:nvSpPr>
          <p:cNvPr id="233" name="Google Shape;233;p18"/>
          <p:cNvSpPr txBox="1"/>
          <p:nvPr/>
        </p:nvSpPr>
        <p:spPr>
          <a:xfrm>
            <a:off x="4937760" y="2167128"/>
            <a:ext cx="2331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Distributed storage</a:t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8503920" y="1508760"/>
            <a:ext cx="2743200" cy="18288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8"/>
          <p:cNvSpPr/>
          <p:nvPr/>
        </p:nvSpPr>
        <p:spPr>
          <a:xfrm>
            <a:off x="8503920" y="1508760"/>
            <a:ext cx="73200" cy="1828800"/>
          </a:xfrm>
          <a:prstGeom prst="rect">
            <a:avLst/>
          </a:prstGeom>
          <a:solidFill>
            <a:srgbClr val="3A915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8732520" y="1673351"/>
            <a:ext cx="233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Historical Data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8732520" y="2167128"/>
            <a:ext cx="23316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Sensor data over days, months and years</a:t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3703320" y="2057400"/>
            <a:ext cx="685800" cy="594300"/>
          </a:xfrm>
          <a:prstGeom prst="chevron">
            <a:avLst>
              <a:gd fmla="val 50000" name="adj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8"/>
          <p:cNvSpPr/>
          <p:nvPr/>
        </p:nvSpPr>
        <p:spPr>
          <a:xfrm>
            <a:off x="7498079" y="2057400"/>
            <a:ext cx="685800" cy="594300"/>
          </a:xfrm>
          <a:prstGeom prst="chevron">
            <a:avLst>
              <a:gd fmla="val 50000" name="adj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914400" y="40690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Why HDFS?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Manufacturing systems can generate huge datasets over long periods. HDFS provides distributed storage for these large volumes.</a:t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594360" y="6510528"/>
            <a:ext cx="10972800" cy="18300"/>
          </a:xfrm>
          <a:prstGeom prst="rect">
            <a:avLst/>
          </a:prstGeom>
          <a:solidFill>
            <a:srgbClr val="D2DC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 txBox="1"/>
          <p:nvPr/>
        </p:nvSpPr>
        <p:spPr>
          <a:xfrm>
            <a:off x="10789920" y="6565392"/>
            <a:ext cx="731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8828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594360" y="3200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03 | Apache Spark — Data Processing</a:t>
            </a:r>
            <a:endParaRPr/>
          </a:p>
        </p:txBody>
      </p:sp>
      <p:sp>
        <p:nvSpPr>
          <p:cNvPr id="249" name="Google Shape;249;p19"/>
          <p:cNvSpPr/>
          <p:nvPr/>
        </p:nvSpPr>
        <p:spPr>
          <a:xfrm>
            <a:off x="685800" y="1417320"/>
            <a:ext cx="2469000" cy="35661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685800" y="1417320"/>
            <a:ext cx="73200" cy="3566100"/>
          </a:xfrm>
          <a:prstGeom prst="rect">
            <a:avLst/>
          </a:prstGeom>
          <a:solidFill>
            <a:srgbClr val="3A915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914400" y="1581912"/>
            <a:ext cx="205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HDFS</a:t>
            </a:r>
            <a:endParaRPr/>
          </a:p>
        </p:txBody>
      </p:sp>
      <p:sp>
        <p:nvSpPr>
          <p:cNvPr id="252" name="Google Shape;252;p19"/>
          <p:cNvSpPr txBox="1"/>
          <p:nvPr/>
        </p:nvSpPr>
        <p:spPr>
          <a:xfrm>
            <a:off x="914400" y="2075688"/>
            <a:ext cx="2057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Raw / historical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sensor data</a:t>
            </a:r>
            <a:endParaRPr/>
          </a:p>
        </p:txBody>
      </p:sp>
      <p:sp>
        <p:nvSpPr>
          <p:cNvPr id="253" name="Google Shape;253;p19"/>
          <p:cNvSpPr/>
          <p:nvPr/>
        </p:nvSpPr>
        <p:spPr>
          <a:xfrm>
            <a:off x="4846320" y="1417320"/>
            <a:ext cx="2469000" cy="35661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4846320" y="1417320"/>
            <a:ext cx="73200" cy="3566100"/>
          </a:xfrm>
          <a:prstGeom prst="rect">
            <a:avLst/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5074920" y="1581912"/>
            <a:ext cx="205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Apache Spark</a:t>
            </a:r>
            <a:endParaRPr/>
          </a:p>
        </p:txBody>
      </p:sp>
      <p:sp>
        <p:nvSpPr>
          <p:cNvPr id="256" name="Google Shape;256;p19"/>
          <p:cNvSpPr txBox="1"/>
          <p:nvPr/>
        </p:nvSpPr>
        <p:spPr>
          <a:xfrm>
            <a:off x="5074920" y="2075688"/>
            <a:ext cx="2057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Distributed,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fast processing</a:t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9006840" y="1417320"/>
            <a:ext cx="2469000" cy="35661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9"/>
          <p:cNvSpPr/>
          <p:nvPr/>
        </p:nvSpPr>
        <p:spPr>
          <a:xfrm>
            <a:off x="9006840" y="1417320"/>
            <a:ext cx="73200" cy="3566100"/>
          </a:xfrm>
          <a:prstGeom prst="rect">
            <a:avLst/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9235440" y="1581912"/>
            <a:ext cx="2057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Processed Data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9235440" y="2075688"/>
            <a:ext cx="2057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Cleaned data +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useful features</a:t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3337560" y="2651760"/>
            <a:ext cx="914400" cy="640200"/>
          </a:xfrm>
          <a:prstGeom prst="chevron">
            <a:avLst>
              <a:gd fmla="val 50000" name="adj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7498079" y="2651760"/>
            <a:ext cx="914400" cy="640200"/>
          </a:xfrm>
          <a:prstGeom prst="chevron">
            <a:avLst>
              <a:gd fmla="val 50000" name="adj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3474720" y="5074920"/>
            <a:ext cx="53034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• Data cleaning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• Remove invalid values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• Calculate averages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• Identify abnormal sensor values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• Create useful features</a:t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594360" y="6510528"/>
            <a:ext cx="10972800" cy="18300"/>
          </a:xfrm>
          <a:prstGeom prst="rect">
            <a:avLst/>
          </a:prstGeom>
          <a:solidFill>
            <a:srgbClr val="D2DC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 txBox="1"/>
          <p:nvPr/>
        </p:nvSpPr>
        <p:spPr>
          <a:xfrm>
            <a:off x="10789920" y="6565392"/>
            <a:ext cx="731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8828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594360" y="3200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04 | Spark MLlib — Failure Prediction</a:t>
            </a:r>
            <a:endParaRPr/>
          </a:p>
        </p:txBody>
      </p:sp>
      <p:sp>
        <p:nvSpPr>
          <p:cNvPr id="272" name="Google Shape;272;p20"/>
          <p:cNvSpPr/>
          <p:nvPr/>
        </p:nvSpPr>
        <p:spPr>
          <a:xfrm>
            <a:off x="685800" y="1371600"/>
            <a:ext cx="2743200" cy="40233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685800" y="1371600"/>
            <a:ext cx="73200" cy="4023300"/>
          </a:xfrm>
          <a:prstGeom prst="rect">
            <a:avLst/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914400" y="1536192"/>
            <a:ext cx="233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Sensor Indicators</a:t>
            </a:r>
            <a:endParaRPr/>
          </a:p>
        </p:txBody>
      </p:sp>
      <p:sp>
        <p:nvSpPr>
          <p:cNvPr id="275" name="Google Shape;275;p20"/>
          <p:cNvSpPr txBox="1"/>
          <p:nvPr/>
        </p:nvSpPr>
        <p:spPr>
          <a:xfrm>
            <a:off x="914400" y="2029967"/>
            <a:ext cx="2331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Temperature ↑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Vibration ↑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Pressure ↑</a:t>
            </a:r>
            <a:endParaRPr/>
          </a:p>
        </p:txBody>
      </p:sp>
      <p:sp>
        <p:nvSpPr>
          <p:cNvPr id="276" name="Google Shape;276;p20"/>
          <p:cNvSpPr/>
          <p:nvPr/>
        </p:nvSpPr>
        <p:spPr>
          <a:xfrm>
            <a:off x="4709160" y="1371600"/>
            <a:ext cx="2743200" cy="40233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4709160" y="1371600"/>
            <a:ext cx="73200" cy="4023300"/>
          </a:xfrm>
          <a:prstGeom prst="rect">
            <a:avLst/>
          </a:prstGeom>
          <a:solidFill>
            <a:srgbClr val="DAA02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4937760" y="1536192"/>
            <a:ext cx="233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Spark MLlib</a:t>
            </a:r>
            <a:endParaRPr/>
          </a:p>
        </p:txBody>
      </p:sp>
      <p:sp>
        <p:nvSpPr>
          <p:cNvPr id="279" name="Google Shape;279;p20"/>
          <p:cNvSpPr txBox="1"/>
          <p:nvPr/>
        </p:nvSpPr>
        <p:spPr>
          <a:xfrm>
            <a:off x="4937760" y="2029967"/>
            <a:ext cx="2331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Applies a machine-learning model to processed sensor features.</a:t>
            </a:r>
            <a:endParaRPr/>
          </a:p>
        </p:txBody>
      </p:sp>
      <p:sp>
        <p:nvSpPr>
          <p:cNvPr id="280" name="Google Shape;280;p20"/>
          <p:cNvSpPr/>
          <p:nvPr/>
        </p:nvSpPr>
        <p:spPr>
          <a:xfrm>
            <a:off x="8732520" y="1371600"/>
            <a:ext cx="2743200" cy="40233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8732520" y="1371600"/>
            <a:ext cx="73200" cy="4023300"/>
          </a:xfrm>
          <a:prstGeom prst="rect">
            <a:avLst/>
          </a:prstGeom>
          <a:solidFill>
            <a:srgbClr val="BE414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8961120" y="1536192"/>
            <a:ext cx="233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endParaRPr/>
          </a:p>
        </p:txBody>
      </p:sp>
      <p:sp>
        <p:nvSpPr>
          <p:cNvPr id="283" name="Google Shape;283;p20"/>
          <p:cNvSpPr txBox="1"/>
          <p:nvPr/>
        </p:nvSpPr>
        <p:spPr>
          <a:xfrm>
            <a:off x="8961120" y="2029967"/>
            <a:ext cx="2331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Failure Probability = 87%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HIGH RISK</a:t>
            </a:r>
            <a:endParaRPr/>
          </a:p>
        </p:txBody>
      </p:sp>
      <p:sp>
        <p:nvSpPr>
          <p:cNvPr id="284" name="Google Shape;284;p20"/>
          <p:cNvSpPr/>
          <p:nvPr/>
        </p:nvSpPr>
        <p:spPr>
          <a:xfrm>
            <a:off x="3520440" y="2971800"/>
            <a:ext cx="777300" cy="640200"/>
          </a:xfrm>
          <a:prstGeom prst="chevron">
            <a:avLst>
              <a:gd fmla="val 50000" name="adj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7543800" y="2971800"/>
            <a:ext cx="777300" cy="640200"/>
          </a:xfrm>
          <a:prstGeom prst="chevron">
            <a:avLst>
              <a:gd fmla="val 50000" name="adj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594360" y="6510528"/>
            <a:ext cx="10972800" cy="18300"/>
          </a:xfrm>
          <a:prstGeom prst="rect">
            <a:avLst/>
          </a:prstGeom>
          <a:solidFill>
            <a:srgbClr val="D2DC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10789920" y="6565392"/>
            <a:ext cx="731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8828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594360" y="3200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05 | Apache Hive — Analysis &amp; Reporting</a:t>
            </a:r>
            <a:endParaRPr/>
          </a:p>
        </p:txBody>
      </p:sp>
      <p:sp>
        <p:nvSpPr>
          <p:cNvPr id="294" name="Google Shape;294;p21"/>
          <p:cNvSpPr/>
          <p:nvPr/>
        </p:nvSpPr>
        <p:spPr>
          <a:xfrm>
            <a:off x="685800" y="1325880"/>
            <a:ext cx="5029200" cy="43890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1"/>
          <p:cNvSpPr/>
          <p:nvPr/>
        </p:nvSpPr>
        <p:spPr>
          <a:xfrm>
            <a:off x="685800" y="1325880"/>
            <a:ext cx="73200" cy="4389000"/>
          </a:xfrm>
          <a:prstGeom prst="rect">
            <a:avLst/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914400" y="1490472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Example Hive Query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914400" y="1984248"/>
            <a:ext cx="46176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SELECT machine_id, risk_level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FROM machine_predictions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WHERE risk_level = 'HIGH';</a:t>
            </a:r>
            <a:endParaRPr/>
          </a:p>
        </p:txBody>
      </p:sp>
      <p:sp>
        <p:nvSpPr>
          <p:cNvPr id="298" name="Google Shape;298;p21"/>
          <p:cNvSpPr/>
          <p:nvPr/>
        </p:nvSpPr>
        <p:spPr>
          <a:xfrm>
            <a:off x="6400800" y="1325880"/>
            <a:ext cx="5029200" cy="43890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6400800" y="1325880"/>
            <a:ext cx="73200" cy="4389000"/>
          </a:xfrm>
          <a:prstGeom prst="rect">
            <a:avLst/>
          </a:prstGeom>
          <a:solidFill>
            <a:srgbClr val="BE414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 txBox="1"/>
          <p:nvPr/>
        </p:nvSpPr>
        <p:spPr>
          <a:xfrm>
            <a:off x="6629400" y="1490472"/>
            <a:ext cx="461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</p:txBody>
      </p:sp>
      <p:sp>
        <p:nvSpPr>
          <p:cNvPr id="301" name="Google Shape;301;p21"/>
          <p:cNvSpPr txBox="1"/>
          <p:nvPr/>
        </p:nvSpPr>
        <p:spPr>
          <a:xfrm>
            <a:off x="6629400" y="1984248"/>
            <a:ext cx="4617600" cy="3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M103  — HIGH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M107  — HIGH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M112  — HIGH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Maintenance teams can use these results to identify machines requiring attention.</a:t>
            </a:r>
            <a:endParaRPr/>
          </a:p>
        </p:txBody>
      </p:sp>
      <p:sp>
        <p:nvSpPr>
          <p:cNvPr id="302" name="Google Shape;302;p21"/>
          <p:cNvSpPr/>
          <p:nvPr/>
        </p:nvSpPr>
        <p:spPr>
          <a:xfrm>
            <a:off x="594360" y="6510528"/>
            <a:ext cx="10972800" cy="18300"/>
          </a:xfrm>
          <a:prstGeom prst="rect">
            <a:avLst/>
          </a:prstGeom>
          <a:solidFill>
            <a:srgbClr val="D2DC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10789920" y="6565392"/>
            <a:ext cx="731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8828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594360" y="3200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Maintenance Decision</a:t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685800" y="1417320"/>
            <a:ext cx="3337500" cy="34746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685800" y="1417320"/>
            <a:ext cx="73200" cy="3474600"/>
          </a:xfrm>
          <a:prstGeom prst="rect">
            <a:avLst/>
          </a:prstGeom>
          <a:solidFill>
            <a:srgbClr val="3A915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 txBox="1"/>
          <p:nvPr/>
        </p:nvSpPr>
        <p:spPr>
          <a:xfrm>
            <a:off x="914400" y="1581912"/>
            <a:ext cx="292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LOW / MEDIUM RISK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914400" y="2075688"/>
            <a:ext cx="29262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Continue monitoring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Keep collecting sensor data and track machine condition.</a:t>
            </a:r>
            <a:endParaRPr/>
          </a:p>
        </p:txBody>
      </p:sp>
      <p:sp>
        <p:nvSpPr>
          <p:cNvPr id="314" name="Google Shape;314;p22"/>
          <p:cNvSpPr/>
          <p:nvPr/>
        </p:nvSpPr>
        <p:spPr>
          <a:xfrm>
            <a:off x="4434840" y="1417320"/>
            <a:ext cx="3337500" cy="34746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/>
          <p:cNvSpPr/>
          <p:nvPr/>
        </p:nvSpPr>
        <p:spPr>
          <a:xfrm>
            <a:off x="4434840" y="1417320"/>
            <a:ext cx="73200" cy="3474600"/>
          </a:xfrm>
          <a:prstGeom prst="rect">
            <a:avLst/>
          </a:prstGeom>
          <a:solidFill>
            <a:srgbClr val="BE414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4663440" y="1581912"/>
            <a:ext cx="292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HIGH RISK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4663440" y="2075688"/>
            <a:ext cx="29262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Schedule maintenance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Prioritize inspection or maintenance before breakdown.</a:t>
            </a:r>
            <a:endParaRPr/>
          </a:p>
        </p:txBody>
      </p:sp>
      <p:sp>
        <p:nvSpPr>
          <p:cNvPr id="318" name="Google Shape;318;p22"/>
          <p:cNvSpPr/>
          <p:nvPr/>
        </p:nvSpPr>
        <p:spPr>
          <a:xfrm>
            <a:off x="8183879" y="1417320"/>
            <a:ext cx="3337500" cy="34746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D7E1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/>
          <p:nvPr/>
        </p:nvSpPr>
        <p:spPr>
          <a:xfrm>
            <a:off x="8183879" y="1417320"/>
            <a:ext cx="73200" cy="3474600"/>
          </a:xfrm>
          <a:prstGeom prst="rect">
            <a:avLst/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8412480" y="1581912"/>
            <a:ext cx="2926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BUSINESS IMPACT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8412480" y="2075688"/>
            <a:ext cx="2926200" cy="26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Reduced unexpected downtime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Better maintenance planning</a:t>
            </a:r>
            <a:b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Lower disruption to production</a:t>
            </a: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594360" y="6510528"/>
            <a:ext cx="10972800" cy="18300"/>
          </a:xfrm>
          <a:prstGeom prst="rect">
            <a:avLst/>
          </a:prstGeom>
          <a:solidFill>
            <a:srgbClr val="D2DC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10789920" y="6565392"/>
            <a:ext cx="731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8828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3"/>
          <p:cNvSpPr/>
          <p:nvPr/>
        </p:nvSpPr>
        <p:spPr>
          <a:xfrm>
            <a:off x="822960" y="1234440"/>
            <a:ext cx="10515600" cy="4572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3"/>
          <p:cNvSpPr/>
          <p:nvPr/>
        </p:nvSpPr>
        <p:spPr>
          <a:xfrm>
            <a:off x="5486400" y="1664208"/>
            <a:ext cx="914400" cy="24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822960" y="1856232"/>
            <a:ext cx="10515600" cy="4572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5486400" y="2286000"/>
            <a:ext cx="914400" cy="24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822960" y="2478024"/>
            <a:ext cx="10515600" cy="4572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3"/>
          <p:cNvSpPr/>
          <p:nvPr/>
        </p:nvSpPr>
        <p:spPr>
          <a:xfrm>
            <a:off x="5486400" y="2907791"/>
            <a:ext cx="914400" cy="24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822960" y="3099816"/>
            <a:ext cx="10515600" cy="4572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3"/>
          <p:cNvSpPr/>
          <p:nvPr/>
        </p:nvSpPr>
        <p:spPr>
          <a:xfrm>
            <a:off x="5486400" y="3529584"/>
            <a:ext cx="914400" cy="24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822960" y="3721608"/>
            <a:ext cx="10515600" cy="457200"/>
          </a:xfrm>
          <a:prstGeom prst="roundRect">
            <a:avLst>
              <a:gd fmla="val 16667" name="adj"/>
            </a:avLst>
          </a:prstGeom>
          <a:solidFill>
            <a:srgbClr val="E7EFF7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3"/>
          <p:cNvSpPr/>
          <p:nvPr/>
        </p:nvSpPr>
        <p:spPr>
          <a:xfrm>
            <a:off x="5486400" y="4151376"/>
            <a:ext cx="914400" cy="24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3"/>
          <p:cNvSpPr/>
          <p:nvPr/>
        </p:nvSpPr>
        <p:spPr>
          <a:xfrm>
            <a:off x="822960" y="4343400"/>
            <a:ext cx="10515600" cy="457200"/>
          </a:xfrm>
          <a:prstGeom prst="roundRect">
            <a:avLst>
              <a:gd fmla="val 16667" name="adj"/>
            </a:avLst>
          </a:prstGeom>
          <a:solidFill>
            <a:srgbClr val="E7EFF7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5486400" y="4773168"/>
            <a:ext cx="914400" cy="24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/>
          <p:nvPr/>
        </p:nvSpPr>
        <p:spPr>
          <a:xfrm>
            <a:off x="822960" y="4965192"/>
            <a:ext cx="10515600" cy="4572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3"/>
          <p:cNvSpPr/>
          <p:nvPr/>
        </p:nvSpPr>
        <p:spPr>
          <a:xfrm>
            <a:off x="5486400" y="5394959"/>
            <a:ext cx="914400" cy="246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/>
          <p:nvPr/>
        </p:nvSpPr>
        <p:spPr>
          <a:xfrm>
            <a:off x="822960" y="5586984"/>
            <a:ext cx="10515600" cy="457200"/>
          </a:xfrm>
          <a:prstGeom prst="roundRect">
            <a:avLst>
              <a:gd fmla="val 16667" name="adj"/>
            </a:avLst>
          </a:prstGeom>
          <a:solidFill>
            <a:srgbClr val="E7EFF7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3"/>
          <p:cNvSpPr/>
          <p:nvPr/>
        </p:nvSpPr>
        <p:spPr>
          <a:xfrm>
            <a:off x="594360" y="6510528"/>
            <a:ext cx="10972800" cy="18300"/>
          </a:xfrm>
          <a:prstGeom prst="rect">
            <a:avLst/>
          </a:prstGeom>
          <a:solidFill>
            <a:srgbClr val="D2DC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3"/>
          <p:cNvSpPr txBox="1"/>
          <p:nvPr/>
        </p:nvSpPr>
        <p:spPr>
          <a:xfrm>
            <a:off x="594360" y="320040"/>
            <a:ext cx="10972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End-to-End Architecture Flow</a:t>
            </a:r>
            <a:endParaRPr/>
          </a:p>
        </p:txBody>
      </p:sp>
      <p:sp>
        <p:nvSpPr>
          <p:cNvPr id="346" name="Google Shape;346;p23"/>
          <p:cNvSpPr/>
          <p:nvPr/>
        </p:nvSpPr>
        <p:spPr>
          <a:xfrm>
            <a:off x="868680" y="1234440"/>
            <a:ext cx="10424100" cy="4389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3"/>
          <p:cNvSpPr txBox="1"/>
          <p:nvPr/>
        </p:nvSpPr>
        <p:spPr>
          <a:xfrm>
            <a:off x="1069848" y="1275588"/>
            <a:ext cx="4206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MANUFACTURING MACHINES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5440680" y="1275588"/>
            <a:ext cx="5486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IoT Sensors</a:t>
            </a:r>
            <a:endParaRPr/>
          </a:p>
        </p:txBody>
      </p:sp>
      <p:sp>
        <p:nvSpPr>
          <p:cNvPr id="349" name="Google Shape;349;p23"/>
          <p:cNvSpPr/>
          <p:nvPr/>
        </p:nvSpPr>
        <p:spPr>
          <a:xfrm>
            <a:off x="5486400" y="1682496"/>
            <a:ext cx="914400" cy="155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3"/>
          <p:cNvSpPr/>
          <p:nvPr/>
        </p:nvSpPr>
        <p:spPr>
          <a:xfrm>
            <a:off x="868680" y="1847088"/>
            <a:ext cx="10424100" cy="4389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3"/>
          <p:cNvSpPr txBox="1"/>
          <p:nvPr/>
        </p:nvSpPr>
        <p:spPr>
          <a:xfrm>
            <a:off x="1069848" y="1888236"/>
            <a:ext cx="4206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APACHE KAFKA</a:t>
            </a:r>
            <a:endParaRPr/>
          </a:p>
        </p:txBody>
      </p:sp>
      <p:sp>
        <p:nvSpPr>
          <p:cNvPr id="352" name="Google Shape;352;p23"/>
          <p:cNvSpPr txBox="1"/>
          <p:nvPr/>
        </p:nvSpPr>
        <p:spPr>
          <a:xfrm>
            <a:off x="5440680" y="1888236"/>
            <a:ext cx="5486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Real-time data ingestion</a:t>
            </a:r>
            <a:endParaRPr/>
          </a:p>
        </p:txBody>
      </p:sp>
      <p:sp>
        <p:nvSpPr>
          <p:cNvPr id="353" name="Google Shape;353;p23"/>
          <p:cNvSpPr/>
          <p:nvPr/>
        </p:nvSpPr>
        <p:spPr>
          <a:xfrm>
            <a:off x="5486400" y="2295144"/>
            <a:ext cx="914400" cy="155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3"/>
          <p:cNvSpPr/>
          <p:nvPr/>
        </p:nvSpPr>
        <p:spPr>
          <a:xfrm>
            <a:off x="868680" y="2459736"/>
            <a:ext cx="10424100" cy="4389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3"/>
          <p:cNvSpPr txBox="1"/>
          <p:nvPr/>
        </p:nvSpPr>
        <p:spPr>
          <a:xfrm>
            <a:off x="1069848" y="2500884"/>
            <a:ext cx="4206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HDFS</a:t>
            </a:r>
            <a:endParaRPr/>
          </a:p>
        </p:txBody>
      </p:sp>
      <p:sp>
        <p:nvSpPr>
          <p:cNvPr id="356" name="Google Shape;356;p23"/>
          <p:cNvSpPr txBox="1"/>
          <p:nvPr/>
        </p:nvSpPr>
        <p:spPr>
          <a:xfrm>
            <a:off x="5440680" y="2500884"/>
            <a:ext cx="5486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Distributed storage</a:t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>
            <a:off x="5486400" y="2907792"/>
            <a:ext cx="914400" cy="155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3"/>
          <p:cNvSpPr/>
          <p:nvPr/>
        </p:nvSpPr>
        <p:spPr>
          <a:xfrm>
            <a:off x="868680" y="3072384"/>
            <a:ext cx="10424100" cy="4389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 txBox="1"/>
          <p:nvPr/>
        </p:nvSpPr>
        <p:spPr>
          <a:xfrm>
            <a:off x="1069848" y="3113532"/>
            <a:ext cx="4206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APACHE SPARK</a:t>
            </a:r>
            <a:endParaRPr/>
          </a:p>
        </p:txBody>
      </p:sp>
      <p:sp>
        <p:nvSpPr>
          <p:cNvPr id="360" name="Google Shape;360;p23"/>
          <p:cNvSpPr txBox="1"/>
          <p:nvPr/>
        </p:nvSpPr>
        <p:spPr>
          <a:xfrm>
            <a:off x="5440680" y="3113532"/>
            <a:ext cx="5486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Data cleaning • Processing • Feature creation</a:t>
            </a:r>
            <a:endParaRPr/>
          </a:p>
        </p:txBody>
      </p:sp>
      <p:sp>
        <p:nvSpPr>
          <p:cNvPr id="361" name="Google Shape;361;p23"/>
          <p:cNvSpPr/>
          <p:nvPr/>
        </p:nvSpPr>
        <p:spPr>
          <a:xfrm>
            <a:off x="5486400" y="3520440"/>
            <a:ext cx="914400" cy="155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3"/>
          <p:cNvSpPr/>
          <p:nvPr/>
        </p:nvSpPr>
        <p:spPr>
          <a:xfrm>
            <a:off x="868680" y="3685032"/>
            <a:ext cx="10424100" cy="4389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3"/>
          <p:cNvSpPr txBox="1"/>
          <p:nvPr/>
        </p:nvSpPr>
        <p:spPr>
          <a:xfrm>
            <a:off x="1069848" y="3726180"/>
            <a:ext cx="4206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SPARK MLLIB</a:t>
            </a:r>
            <a:endParaRPr/>
          </a:p>
        </p:txBody>
      </p:sp>
      <p:sp>
        <p:nvSpPr>
          <p:cNvPr id="364" name="Google Shape;364;p23"/>
          <p:cNvSpPr txBox="1"/>
          <p:nvPr/>
        </p:nvSpPr>
        <p:spPr>
          <a:xfrm>
            <a:off x="5440680" y="3726180"/>
            <a:ext cx="5486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Machine learning • Failure prediction</a:t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5486400" y="4133088"/>
            <a:ext cx="914400" cy="155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3"/>
          <p:cNvSpPr/>
          <p:nvPr/>
        </p:nvSpPr>
        <p:spPr>
          <a:xfrm>
            <a:off x="868680" y="4297680"/>
            <a:ext cx="10424100" cy="4389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3"/>
          <p:cNvSpPr txBox="1"/>
          <p:nvPr/>
        </p:nvSpPr>
        <p:spPr>
          <a:xfrm>
            <a:off x="1069848" y="4338828"/>
            <a:ext cx="4206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RISK LEVEL</a:t>
            </a:r>
            <a:endParaRPr/>
          </a:p>
        </p:txBody>
      </p:sp>
      <p:sp>
        <p:nvSpPr>
          <p:cNvPr id="368" name="Google Shape;368;p23"/>
          <p:cNvSpPr txBox="1"/>
          <p:nvPr/>
        </p:nvSpPr>
        <p:spPr>
          <a:xfrm>
            <a:off x="5440680" y="4338828"/>
            <a:ext cx="5486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LOW • MEDIUM • HIGH</a:t>
            </a:r>
            <a:endParaRPr/>
          </a:p>
        </p:txBody>
      </p:sp>
      <p:sp>
        <p:nvSpPr>
          <p:cNvPr id="369" name="Google Shape;369;p23"/>
          <p:cNvSpPr/>
          <p:nvPr/>
        </p:nvSpPr>
        <p:spPr>
          <a:xfrm>
            <a:off x="5486400" y="4745736"/>
            <a:ext cx="914400" cy="155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/>
          <p:nvPr/>
        </p:nvSpPr>
        <p:spPr>
          <a:xfrm>
            <a:off x="868680" y="4910328"/>
            <a:ext cx="10424100" cy="4389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3"/>
          <p:cNvSpPr txBox="1"/>
          <p:nvPr/>
        </p:nvSpPr>
        <p:spPr>
          <a:xfrm>
            <a:off x="1069848" y="4951476"/>
            <a:ext cx="4206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APACHE HIVE</a:t>
            </a:r>
            <a:endParaRPr/>
          </a:p>
        </p:txBody>
      </p:sp>
      <p:sp>
        <p:nvSpPr>
          <p:cNvPr id="372" name="Google Shape;372;p23"/>
          <p:cNvSpPr txBox="1"/>
          <p:nvPr/>
        </p:nvSpPr>
        <p:spPr>
          <a:xfrm>
            <a:off x="5440680" y="4951476"/>
            <a:ext cx="5486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Query &amp; reporting</a:t>
            </a:r>
            <a:endParaRPr/>
          </a:p>
        </p:txBody>
      </p:sp>
      <p:sp>
        <p:nvSpPr>
          <p:cNvPr id="373" name="Google Shape;373;p23"/>
          <p:cNvSpPr/>
          <p:nvPr/>
        </p:nvSpPr>
        <p:spPr>
          <a:xfrm>
            <a:off x="5486400" y="5358384"/>
            <a:ext cx="914400" cy="155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369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3"/>
          <p:cNvSpPr/>
          <p:nvPr/>
        </p:nvSpPr>
        <p:spPr>
          <a:xfrm>
            <a:off x="868680" y="5522976"/>
            <a:ext cx="10424100" cy="438900"/>
          </a:xfrm>
          <a:prstGeom prst="roundRect">
            <a:avLst>
              <a:gd fmla="val 16667" name="adj"/>
            </a:avLst>
          </a:prstGeom>
          <a:solidFill>
            <a:srgbClr val="F1F6FA"/>
          </a:solidFill>
          <a:ln cap="flat" cmpd="sng" w="9525">
            <a:solidFill>
              <a:srgbClr val="BECD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3"/>
          <p:cNvSpPr txBox="1"/>
          <p:nvPr/>
        </p:nvSpPr>
        <p:spPr>
          <a:xfrm>
            <a:off x="1069848" y="5564124"/>
            <a:ext cx="4206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233A"/>
                </a:solidFill>
                <a:latin typeface="Calibri"/>
                <a:ea typeface="Calibri"/>
                <a:cs typeface="Calibri"/>
                <a:sym typeface="Calibri"/>
              </a:rPr>
              <a:t>MAINTENANCE DECISION</a:t>
            </a:r>
            <a:endParaRPr/>
          </a:p>
        </p:txBody>
      </p:sp>
      <p:sp>
        <p:nvSpPr>
          <p:cNvPr id="376" name="Google Shape;376;p23"/>
          <p:cNvSpPr txBox="1"/>
          <p:nvPr/>
        </p:nvSpPr>
        <p:spPr>
          <a:xfrm>
            <a:off x="5440680" y="5564124"/>
            <a:ext cx="5486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28323C"/>
                </a:solidFill>
                <a:latin typeface="Calibri"/>
                <a:ea typeface="Calibri"/>
                <a:cs typeface="Calibri"/>
                <a:sym typeface="Calibri"/>
              </a:rPr>
              <a:t>Monitor or schedule maintenance</a:t>
            </a:r>
            <a:endParaRPr/>
          </a:p>
        </p:txBody>
      </p:sp>
      <p:sp>
        <p:nvSpPr>
          <p:cNvPr id="377" name="Google Shape;377;p23"/>
          <p:cNvSpPr/>
          <p:nvPr/>
        </p:nvSpPr>
        <p:spPr>
          <a:xfrm>
            <a:off x="594360" y="6510528"/>
            <a:ext cx="10972800" cy="18300"/>
          </a:xfrm>
          <a:prstGeom prst="rect">
            <a:avLst/>
          </a:prstGeom>
          <a:solidFill>
            <a:srgbClr val="D2DC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 txBox="1"/>
          <p:nvPr/>
        </p:nvSpPr>
        <p:spPr>
          <a:xfrm>
            <a:off x="10789920" y="6565392"/>
            <a:ext cx="7314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8828C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1223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 txBox="1"/>
          <p:nvPr/>
        </p:nvSpPr>
        <p:spPr>
          <a:xfrm>
            <a:off x="731520" y="731520"/>
            <a:ext cx="1078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/>
          </a:p>
        </p:txBody>
      </p:sp>
      <p:sp>
        <p:nvSpPr>
          <p:cNvPr id="385" name="Google Shape;385;p24"/>
          <p:cNvSpPr txBox="1"/>
          <p:nvPr/>
        </p:nvSpPr>
        <p:spPr>
          <a:xfrm>
            <a:off x="822960" y="1645920"/>
            <a:ext cx="10241400" cy="3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3150" spcFirstLastPara="1" rIns="7315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Kafka captures continuous machine sensor streams.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HDFS stores large-scale historical sensor data.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Spark cleans, processes and transforms the data.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Spark MLlib predicts potential machine failures.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Hive supports querying and reporting for maintenance decisions.</a:t>
            </a:r>
            <a:endParaRPr/>
          </a:p>
          <a:p>
            <a:pPr indent="0" lvl="0" marL="0" marR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Together, the pipeline supports proactive predictive maintenance scheduling.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